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601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GridLock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94360" y="1920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Congestion Forecasting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2487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  ·  Flipkart × Bengaluru Traffic Police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926080"/>
            <a:ext cx="5029200" cy="36576"/>
          </a:xfrm>
          <a:prstGeom prst="rect">
            <a:avLst/>
          </a:prstGeom>
          <a:solidFill>
            <a:srgbClr val="2A4A80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63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A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Round 2 Submission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977640"/>
            <a:ext cx="2468880" cy="80467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4041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94360" y="4425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analysed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3977640"/>
            <a:ext cx="2468880" cy="80467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4041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83280" y="4425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features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3977640"/>
            <a:ext cx="2468880" cy="80467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4041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72200" y="44256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loses hours to reactive traffic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749808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8,171 incidents (Nov 2023–Apr 2024)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7335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Rallies, VIP movement, construction, breakdowns across 22 corridors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8321040" cy="749808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2585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is experience-driven, not data-driven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4203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decide resource allocation without any quantified impact estimate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63240"/>
            <a:ext cx="8321040" cy="749808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1272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unknown until the jam forms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41071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tree-fall or planned rally is not quantified until it has already disrupted traffic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8321040" cy="749808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🆘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39959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support at report time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279392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on the ground receive the call with no forecast, no recommended 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impact the moment an incident is reported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329184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ROAD CLOSURE RISK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close the road?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3.74×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lift vs. baseline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2560320" cy="36576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7066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+ isotonic calibration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planned-event recall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probabilities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914400"/>
            <a:ext cx="2743200" cy="329184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DISPATCH PRIORITY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1316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 Low priority?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310128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corridor-blind F1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2606040"/>
            <a:ext cx="2560320" cy="36576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27066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Rule-validated + corridor-blind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road, not just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designated corridors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91440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914400"/>
            <a:ext cx="2743200" cy="329184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960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DURATION BUCKET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54496" y="13167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clear?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54496" y="17556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254496" y="2331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accuracy (vs 57.9%)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4496" y="2606040"/>
            <a:ext cx="2560320" cy="36576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70662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&lt;1h · 1-3h · 3-8h · &gt;8h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estimates clearance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note directly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315968"/>
            <a:ext cx="8595360" cy="493776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40740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Recommendation engine maps predictions to: manpower count · barricade count · diversion route · alert level · tow dispatch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that separate honest ML from a hollow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0292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87552"/>
            <a:ext cx="109728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058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TRAP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27632" y="10058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End-point coordinates are a 98% proxy for closure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57276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689 incidents with an end-point, 676 (98%) required closure. The end-point is recorded because a closure happened — not known at report time. A naive model scores F1 0.98 and is meaningless. We ban all end-point and resolution-time columns.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12848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12848"/>
            <a:ext cx="50292" cy="1170432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1097280" cy="23774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3042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27632" y="23042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 rule, not a prediction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2871216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= (corridor ≠ Non-corridor) with zero exceptions across 8,171 rows. We report this honestly and train a corridor-blind model (F1 0.916) that recovers priority from incident characteristics alone — enabling BTP to extend priority to any road.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511296"/>
            <a:ext cx="85039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511296"/>
            <a:ext cx="50292" cy="1170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84448"/>
            <a:ext cx="1097280" cy="23774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36027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27632" y="360273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is partly a recording artifact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16966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records (vehicle_breakdown) are auto-modified at ~130 min regardless of real clearance. We re-frame T3 as bucket prediction (&lt;1h / 1-3h / 3-8h / &gt;8h) and identify which causes are predictable: accident=35 min MAE vs potholes=8,600 min.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leakage-safe features — all computable at report time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10515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0876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day-of-week, month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peak: 11-12h &amp; 16-19h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flag, night flag, hour bucket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024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49040" y="10515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 recurrence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/ zone / grid / cause / veh-type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rates &amp; incident counts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Days-since-last, city load (24h)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9144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99632" y="10241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✖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56832" y="10515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141732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50876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planned_cause_risk = is_planned × cause_closure_rate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peak_cause_risk = is_peak × cause_closure_rate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corridor_cause_risk (product)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4048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" y="30175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text mining (Groq)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38328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7472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1-5 · lane blocking · vehicles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Tow/crane required · incident subtype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clearance minutes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82112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91840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49040" y="30175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priors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91840" y="338328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47472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 mean clearance 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cause, corridor, zone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Past-only, no future leakage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288036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99632" y="299008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656832" y="301752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flags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9632" y="3383280"/>
            <a:ext cx="2523744" cy="27432"/>
          </a:xfrm>
          <a:prstGeom prst="rect">
            <a:avLst/>
          </a:prstGeom>
          <a:solidFill>
            <a:srgbClr val="D8E4F0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474720"/>
            <a:ext cx="2523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 / distance to centroid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is_planned · is_heavy_vehicle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is_non_corridor · zone_missing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chronological test set  ·  n = 1,226 incidents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057400" cy="117043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0574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3.74×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01752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lift (T1)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" y="17007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0.374 vs 0.086 baseline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23160" y="914400"/>
            <a:ext cx="2057400" cy="117043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14400"/>
            <a:ext cx="20574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96312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(T1)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96312" y="17007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discriminative power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2057400" cy="117043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14400"/>
            <a:ext cx="20574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90872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recall (T1)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90872" y="17007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planned closure caught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812280" y="914400"/>
            <a:ext cx="2057400" cy="1170432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12280" y="914400"/>
            <a:ext cx="205740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0058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85432" y="15087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accuracy (T3)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85432" y="17007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57.9% majority baseline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2212848"/>
            <a:ext cx="1417320" cy="237744"/>
          </a:xfrm>
          <a:prstGeom prst="rect">
            <a:avLst/>
          </a:prstGeom>
          <a:solidFill>
            <a:srgbClr val="1A3A6C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" y="224942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0" y="2212848"/>
            <a:ext cx="1737360" cy="237744"/>
          </a:xfrm>
          <a:prstGeom prst="rect">
            <a:avLst/>
          </a:prstGeom>
          <a:solidFill>
            <a:srgbClr val="1A3A6C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0784" y="224942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83280" y="2212848"/>
            <a:ext cx="1920240" cy="237744"/>
          </a:xfrm>
          <a:prstGeom prst="rect">
            <a:avLst/>
          </a:prstGeom>
          <a:solidFill>
            <a:srgbClr val="1A3A6C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38144" y="22494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303520" y="2212848"/>
            <a:ext cx="1920240" cy="237744"/>
          </a:xfrm>
          <a:prstGeom prst="rect">
            <a:avLst/>
          </a:prstGeom>
          <a:solidFill>
            <a:srgbClr val="1A3A6C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58384" y="22494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2450592"/>
            <a:ext cx="141732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" y="248716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Closure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45920" y="2450592"/>
            <a:ext cx="173736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00784" y="24871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2450592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24871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0.374  (3.74× lift)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303520" y="2450592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58384" y="248716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28600" y="2688336"/>
            <a:ext cx="141732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" y="272491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Closure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45920" y="2688336"/>
            <a:ext cx="173736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00784" y="272491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383280" y="2688336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38144" y="27249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0.812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303520" y="2688336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58384" y="27249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" y="2926080"/>
            <a:ext cx="141732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464" y="296265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Closure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645920" y="2926080"/>
            <a:ext cx="173736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00784" y="29626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recall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383280" y="2926080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38144" y="29626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303520" y="2926080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8384" y="296265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28600" y="3163824"/>
            <a:ext cx="141732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3464" y="320040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Closure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645920" y="3163824"/>
            <a:ext cx="173736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700784" y="320040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recall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383280" y="3163824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38144" y="32004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0.532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303520" y="3163824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58384" y="320040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28600" y="3401568"/>
            <a:ext cx="141732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3464" y="3438144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Priority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645920" y="3401568"/>
            <a:ext cx="173736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00784" y="343814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383280" y="3401568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38144" y="343814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303520" y="3401568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58384" y="343814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0.9984 (rule)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28600" y="3639312"/>
            <a:ext cx="141732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83464" y="3675888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Blind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645920" y="3639312"/>
            <a:ext cx="173736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700784" y="36758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Corridor-blind F1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383280" y="3639312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38144" y="36758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0.916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303520" y="3639312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58384" y="3675888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228600" y="3877056"/>
            <a:ext cx="141732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83464" y="391363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Bucket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1645920" y="3877056"/>
            <a:ext cx="173736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700784" y="39136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383280" y="3877056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38144" y="391363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5303520" y="3877056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358384" y="391363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57.9%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28600" y="4114800"/>
            <a:ext cx="141732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83464" y="4151376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Bucket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1645920" y="4114800"/>
            <a:ext cx="173736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700784" y="415137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1-3h class F1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383280" y="4114800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438144" y="41513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303520" y="4114800"/>
            <a:ext cx="1920240" cy="237744"/>
          </a:xfrm>
          <a:prstGeom prst="rect">
            <a:avLst/>
          </a:prstGeom>
          <a:solidFill>
            <a:srgbClr val="122868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358384" y="4151376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28600" y="4352544"/>
            <a:ext cx="141732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3464" y="4389120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AFT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1645920" y="4352544"/>
            <a:ext cx="173736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700784" y="4389120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C-index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3383280" y="4352544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438144" y="43891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0.598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5303520" y="4352544"/>
            <a:ext cx="1920240" cy="237744"/>
          </a:xfrm>
          <a:prstGeom prst="rect">
            <a:avLst/>
          </a:prstGeom>
          <a:solidFill>
            <a:srgbClr val="0E2050"/>
          </a:solidFill>
          <a:ln w="12700">
            <a:solidFill>
              <a:srgbClr val="1A357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358384" y="438912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notes are the strongest single predictor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7548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87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A3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GROQ llama-3.1-8b-instant EXTRACTS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2646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0817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160934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(minor) to 5 (road blocked)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92938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1109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lanes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1226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note imply lane(s) blocked?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1401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involved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61518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vehicles mentioned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3522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1693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tow / crane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11810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equipment needed?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43814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41985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subtype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" y="362102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vehicle_breakdown / collision / vip / crowd …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201168" cy="20116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2277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duration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" y="4123944"/>
            <a:ext cx="4261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reasons: crane + truck → ~240 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166360" y="914400"/>
            <a:ext cx="37033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57800" y="9875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5,541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5257800" y="160934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descriptions processed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66360" y="2834640"/>
            <a:ext cx="3703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57800" y="29077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~3.5 notes/sec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57800" y="323697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batched API · 4 concurrent workers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66360" y="3712464"/>
            <a:ext cx="37033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85232" y="3785616"/>
            <a:ext cx="3493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English · Kanglish · Kannada script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 = 100% coverage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SHAP contributor for closure (T1)</a:t>
            </a:r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9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— no translation needed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prediction to deployment plan in one call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566160"/>
          </a:xfrm>
          <a:prstGeom prst="rect">
            <a:avLst/>
          </a:prstGeom>
          <a:solidFill>
            <a:srgbClr val="0D1B3E"/>
          </a:solidFill>
          <a:ln w="1905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058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fall · Tumkur Road · 18:30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627632"/>
            <a:ext cx="3877056" cy="402336"/>
          </a:xfrm>
          <a:prstGeom prst="rect">
            <a:avLst/>
          </a:prstGeom>
          <a:solidFill>
            <a:srgbClr val="1A0A0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8249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68249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level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6384" y="182880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103120"/>
            <a:ext cx="3877056" cy="402336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157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6384" y="2304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officers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578608"/>
            <a:ext cx="3877056" cy="402336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334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633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6384" y="2779776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barricades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054096"/>
            <a:ext cx="3877056" cy="402336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10896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↪️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3108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 to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6384" y="325526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of Chord Road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3529584"/>
            <a:ext cx="3877056" cy="402336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5844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 flag from note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" y="3730752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crane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005072"/>
            <a:ext cx="3877056" cy="402336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40599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" y="405993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estimate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" y="4206240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1-3h bucket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62272" y="914400"/>
            <a:ext cx="44074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62272" y="914400"/>
            <a:ext cx="50292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9875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MANPOWER (2–16 officers)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0" y="12344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base(priority)  +  closure_risk × 6  +  severity  +  peak_hour  +  chronic_corridor  +  planned_event  +  lanes_blocked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62272" y="1938528"/>
            <a:ext cx="44074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62272" y="1938528"/>
            <a:ext cx="50292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0116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BARRICADING (0–12)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572000" y="225856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Triggered: closure_prob ≥ 0.4  OR  severity ≥ 4  OR  lanes_blocked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= closure_prob × 8 + severity  +  2 (if blocking)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462272" y="2962656"/>
            <a:ext cx="44074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462272" y="2962656"/>
            <a:ext cx="50292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0358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ROUTE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328269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corridor → alternate from dataset-derived corridor families: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Tumkur Rd → West of Chord  ·  Mysore Rd → Magadi Rd  ·  Hosur Rd → Bannerghatta Rd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62272" y="3986784"/>
            <a:ext cx="44074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62272" y="3986784"/>
            <a:ext cx="50292" cy="9144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405993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LEVEL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0" y="43068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prob ≥ 0.6 or severity 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prob ≥ 0.35 or severity 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prob ≥ 0.15 or severity 3   LOW: otherwise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improves with every closed incident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261872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incident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36192" y="1371600"/>
            <a:ext cx="1828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19072" y="1005840"/>
            <a:ext cx="1261872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55648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/ T2 / T3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80944" y="1371600"/>
            <a:ext cx="1828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63824" y="1005840"/>
            <a:ext cx="1261872" cy="82296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25696" y="1371600"/>
            <a:ext cx="1828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8576" y="1005840"/>
            <a:ext cx="1261872" cy="822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0448" y="1371600"/>
            <a:ext cx="1828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005840"/>
            <a:ext cx="1261872" cy="822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9904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0" y="1371600"/>
            <a:ext cx="182880" cy="731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005840"/>
            <a:ext cx="1261872" cy="822960"/>
          </a:xfrm>
          <a:prstGeom prst="rect">
            <a:avLst/>
          </a:prstGeom>
          <a:solidFill>
            <a:srgbClr val="1A3A6C"/>
          </a:solidFill>
          <a:ln w="12700">
            <a:solidFill>
              <a:srgbClr val="1A3A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34656" y="111556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08576" y="1901952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LEARNING LOOP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4251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1248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re-engineering needed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1248" y="2523744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features are past-only — re-running features → train on updated data automatically incorporates every new closed incident.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103120"/>
            <a:ext cx="4251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22311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76088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Corridor-blind T2 enables expansion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76088" y="2523744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0.916 from incident characteristics alone. BTP can assign priority to new roads not yet classified as formal corridors.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383280"/>
            <a:ext cx="4251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41248" y="35112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finding for BTP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41248" y="3803904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a true 'road cleared' timestamp (not auto-modified record time) is the single biggest improvement BTP can make to unlock T3 accuracy.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3383280"/>
            <a:ext cx="42519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18888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76088" y="35112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cache grows incrementally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76088" y="3803904"/>
            <a:ext cx="3547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officer note patterns improve duration estimates over time. Resume-safe — no re-processing needed for existing descriptions.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PIPELINE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4069080" cy="2423160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40690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642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 &amp; Recommend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29968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Enter: corridor, cause, vehicle type, datetime, officer note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closure probability · priority · duration bucket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plan: officers · barricades · diversion route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Per-incident SHAP: why this forecast was made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1600200"/>
            <a:ext cx="4069080" cy="2423160"/>
          </a:xfrm>
          <a:prstGeom prst="rect">
            <a:avLst/>
          </a:prstGeom>
          <a:solidFill>
            <a:srgbClr val="132654"/>
          </a:solidFill>
          <a:ln w="12700">
            <a:solidFill>
              <a:srgbClr val="1E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600200"/>
            <a:ext cx="4069080" cy="36576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642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Insights tab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029968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rate by cause / hour / corridor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metrics vs baselines (all 3 targets)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bar charts + calibration curve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data findings explained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4169664"/>
            <a:ext cx="8229600" cy="685800"/>
          </a:xfrm>
          <a:prstGeom prst="rect">
            <a:avLst/>
          </a:prstGeom>
          <a:solidFill>
            <a:srgbClr val="0A1428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27024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→  python -m src.data_prep  →  python -m src.features  →  python -m src.train  →  streamlit run app/dashboard.py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GridLock: Event-Driven Congestion Forecasting</dc:title>
  <dc:subject>PptxGenJS Presentation</dc:subject>
  <dc:creator>PS2 Team</dc:creator>
  <cp:lastModifiedBy>PS2 Team</cp:lastModifiedBy>
  <cp:revision>1</cp:revision>
  <dcterms:created xsi:type="dcterms:W3CDTF">2026-06-18T09:02:44Z</dcterms:created>
  <dcterms:modified xsi:type="dcterms:W3CDTF">2026-06-18T09:02:44Z</dcterms:modified>
</cp:coreProperties>
</file>